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サンプル：アンケート依頼スライド" id="{C2D68052-5B8D-46DE-A192-96F8A6D7A28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解説（生徒向け）" id="{4EF31262-2B5D-5259-2D7C-89EEF0524AE5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【このスライドのポイント】
・1枚目で「何の調査か」「どのくらい時間がかかるか」「いつまでか」が分かるようにする。
・タイトルは問いの形にすると、相手が興味をもちやすい。
・学校名・学年・チーム名を必ず入れる（誰からの依頼かが分からないと、回答してもらえない）。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【このスライドのポイント】
・相手は私たちのことを知らない。まず「誰が」「何のために」「何をお願いしたいのか」を短く伝える。
・お願いしたいこと（回答・所要時間・締切）は2枚目で先に示しておくと、相手が安心して読み進められる。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【このスライドのポイント】
・なぜこのテーマを選んだのかを「気づき→調べたこと→疑問」の流れで示すと、アンケートの意図が伝わりやすい。
・統計などを引用するときは、必ず出典（資料名・発行元・年）を書く。ここに数字やグラフを1つ入れるとさらに説得力が増す。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【このスライドのポイント】
・問いと仮説を示すことで、「なぜこの質問をするのか」が相手に伝わる。
・仮説とアンケートの質問がつながっているかを確認しよう。仮説を確かめるのに必要のない質問は削る。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【このスライドのポイント】
・「なぜ、あなた（他校の生徒）に答えてほしいのか」を書くと、相手は自分ごととして協力しやすくなる。
・結果をどう使うのか（発表・提案など）も伝えると、回答する意味を感じてもらえる。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【このスライドのポイント】
・問題数と所要時間を数字で示すと、相手は「これなら答えられそう」と判断しやすい。
・質問の例をいくつか見せると、どんなことを聞かれるのかが分かり、安心して回答してもらえる。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【このスライドのポイント】
・アンケートに答える人がいちばん気にするのは「自分の回答がどう扱われるか」。匿名・任意・目的外に使わないことをはっきり書く。
・結果を相手に返す約束をすると、協力してくれた人への感謝が伝わり、信頼につながる。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【このスライドのポイント】
・リンクと二次元コードは最後のスライドに大きく載せる。二次元コードは印刷や画面越しでも読み取れるよう、十分な大きさにする。
・パソコンで見る人のためにURLも必ず書く（Googleフォームの短縮URLを使うと見やすい）。
・締切、所要時間、問い合わせ先、お礼の言葉もこのスライドにまとめる。
・二次元コードは、Googleフォームの「送信」→リンクから作れるほか、Chromeの「QRコードを作成」機能でも作れる。作ったら必ず自分のスマホで読み取って確認すること。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【先生用メモ】
GoogleフォームのURLだけを送るのではなく、なぜその質問をするのかを伝えることが、調査の倫理（インフォームド・コンセント）と回答の質の両方につながることを確認する。8枚程度、1枚1メッセージを目安に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【先生用メモ】
他校への依頼は、生徒から直接ではなく、担当教員から相手校の先生を通して行うのが原則。フォームの設定（メールアドレスを収集しない、回答の編集可否など）も事前に確認させる。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探究チーム「ふるさとラボ」｜アンケートご協力のお願い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X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【解説】生徒向け：アンケート依頼スライドのつくり方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 pill"/>
          <p:cNvSpPr/>
          <p:nvPr/>
        </p:nvSpPr>
        <p:spPr>
          <a:xfrm>
            <a:off x="548640" y="548640"/>
            <a:ext cx="256032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label"/>
          <p:cNvSpPr txBox="1"/>
          <p:nvPr/>
        </p:nvSpPr>
        <p:spPr>
          <a:xfrm>
            <a:off x="548640" y="548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アンケートご協力のお願い</a:t>
            </a:r>
            <a:endParaRPr lang="en-US" sz="13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11430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山形の高校生は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「地元に残りたい」と思っている？</a:t>
            </a:r>
            <a:endParaRPr lang="en-US" sz="34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8"/>
                </a:solidFill>
              </a:rPr>
              <a:t>高校生の将来の住まい・働き方に関する意識調査</a:t>
            </a:r>
            <a:endParaRPr lang="en-US" sz="1700" dirty="0"/>
          </a:p>
        </p:txBody>
      </p:sp>
      <p:sp>
        <p:nvSpPr>
          <p:cNvPr id="6" name="chip"/>
          <p:cNvSpPr/>
          <p:nvPr/>
        </p:nvSpPr>
        <p:spPr>
          <a:xfrm>
            <a:off x="548640" y="338328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pic>
        <p:nvPicPr>
          <p:cNvPr id="7" name="chi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493008"/>
            <a:ext cx="237744" cy="237744"/>
          </a:xfrm>
          <a:prstGeom prst="rect">
            <a:avLst/>
          </a:prstGeom>
        </p:spPr>
      </p:pic>
      <p:sp>
        <p:nvSpPr>
          <p:cNvPr id="8" name="chip text"/>
          <p:cNvSpPr txBox="1"/>
          <p:nvPr/>
        </p:nvSpPr>
        <p:spPr>
          <a:xfrm>
            <a:off x="1024128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所要時間 約3分</a:t>
            </a:r>
            <a:endParaRPr lang="en-US" sz="1400" dirty="0"/>
          </a:p>
        </p:txBody>
      </p:sp>
      <p:sp>
        <p:nvSpPr>
          <p:cNvPr id="9" name="chip"/>
          <p:cNvSpPr/>
          <p:nvPr/>
        </p:nvSpPr>
        <p:spPr>
          <a:xfrm>
            <a:off x="2880360" y="338328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pic>
        <p:nvPicPr>
          <p:cNvPr id="10" name="chip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3493008"/>
            <a:ext cx="237744" cy="237744"/>
          </a:xfrm>
          <a:prstGeom prst="rect">
            <a:avLst/>
          </a:prstGeom>
        </p:spPr>
      </p:pic>
      <p:sp>
        <p:nvSpPr>
          <p:cNvPr id="11" name="chip text"/>
          <p:cNvSpPr txBox="1"/>
          <p:nvPr/>
        </p:nvSpPr>
        <p:spPr>
          <a:xfrm>
            <a:off x="3355848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全12問・匿名</a:t>
            </a:r>
            <a:endParaRPr lang="en-US" sz="1400" dirty="0"/>
          </a:p>
        </p:txBody>
      </p:sp>
      <p:sp>
        <p:nvSpPr>
          <p:cNvPr id="12" name="chip"/>
          <p:cNvSpPr/>
          <p:nvPr/>
        </p:nvSpPr>
        <p:spPr>
          <a:xfrm>
            <a:off x="5212080" y="3383280"/>
            <a:ext cx="265176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5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pic>
        <p:nvPicPr>
          <p:cNvPr id="13" name="chi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3493008"/>
            <a:ext cx="237744" cy="237744"/>
          </a:xfrm>
          <a:prstGeom prst="rect">
            <a:avLst/>
          </a:prstGeom>
        </p:spPr>
      </p:pic>
      <p:sp>
        <p:nvSpPr>
          <p:cNvPr id="14" name="chip text"/>
          <p:cNvSpPr txBox="1"/>
          <p:nvPr/>
        </p:nvSpPr>
        <p:spPr>
          <a:xfrm>
            <a:off x="5687568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締切 11月20日（金）</a:t>
            </a:r>
            <a:endParaRPr lang="en-US" sz="1400" dirty="0"/>
          </a:p>
        </p:txBody>
      </p:sp>
      <p:sp>
        <p:nvSpPr>
          <p:cNvPr id="15" name="team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山形県立山形南高等学校 2年　探究チーム「ふるさとラボ」</a:t>
            </a:r>
            <a:endParaRPr lang="en-US" sz="1400" dirty="0"/>
          </a:p>
        </p:txBody>
      </p:sp>
      <p:sp>
        <p:nvSpPr>
          <p:cNvPr id="16" name="hometown icon circle"/>
          <p:cNvSpPr/>
          <p:nvPr/>
        </p:nvSpPr>
        <p:spPr>
          <a:xfrm>
            <a:off x="7680960" y="5029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hometown icon" descr="hometow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7315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はじめまして！ 私たちについて</a:t>
            </a:r>
            <a:endParaRPr lang="en-US" sz="2800" dirty="0"/>
          </a:p>
        </p:txBody>
      </p:sp>
      <p:sp>
        <p:nvSpPr>
          <p:cNvPr id="3" name="team card"/>
          <p:cNvSpPr/>
          <p:nvPr/>
        </p:nvSpPr>
        <p:spPr>
          <a:xfrm>
            <a:off x="457200" y="1188720"/>
            <a:ext cx="384048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team icon circle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探究チーム「ふるさとラボ」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山形県立山形南高等学校 2年生 4名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テーマ：若者の地元定着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総合的な探究の時間に、1年間かけて調べています。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188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皆さんにお願いしたいこと</a:t>
            </a:r>
            <a:endParaRPr lang="en-US" sz="1800" dirty="0"/>
          </a:p>
        </p:txBody>
      </p:sp>
      <p:sp>
        <p:nvSpPr>
          <p:cNvPr id="9" name="request icon circle"/>
          <p:cNvSpPr/>
          <p:nvPr/>
        </p:nvSpPr>
        <p:spPr>
          <a:xfrm>
            <a:off x="466344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request icon" descr="reques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193167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6916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最後のページのアンケートに回答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スマホで約3分・全12問です</a:t>
            </a:r>
            <a:endParaRPr lang="en-US" sz="1600" dirty="0"/>
          </a:p>
        </p:txBody>
      </p:sp>
      <p:sp>
        <p:nvSpPr>
          <p:cNvPr id="12" name="request icon circle"/>
          <p:cNvSpPr/>
          <p:nvPr/>
        </p:nvSpPr>
        <p:spPr>
          <a:xfrm>
            <a:off x="4663440" y="2697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request icon" descr="reque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30" y="28460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2606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匿名で回答できます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名前やメールアドレスは聞きません</a:t>
            </a:r>
            <a:endParaRPr lang="en-US" sz="1600" dirty="0"/>
          </a:p>
        </p:txBody>
      </p:sp>
      <p:sp>
        <p:nvSpPr>
          <p:cNvPr id="15" name="request icon circle"/>
          <p:cNvSpPr/>
          <p:nvPr/>
        </p:nvSpPr>
        <p:spPr>
          <a:xfrm>
            <a:off x="4663440" y="3611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request icon" descr="reques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376047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35204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締切：11月20日（金）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ご協力よろしくお願いします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探究のきっかけ</a:t>
            </a:r>
            <a:endParaRPr lang="en-US" sz="2800" dirty="0"/>
          </a:p>
        </p:txBody>
      </p:sp>
      <p:sp>
        <p:nvSpPr>
          <p:cNvPr id="3" name="step card"/>
          <p:cNvSpPr/>
          <p:nvPr/>
        </p:nvSpPr>
        <p:spPr>
          <a:xfrm>
            <a:off x="457200" y="1188720"/>
            <a:ext cx="2514600" cy="28803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step icon circle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icon" descr="ste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17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気づき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部活の先輩の多くが、県外の大学や会社に進むと聞いた。</a:t>
            </a:r>
            <a:endParaRPr lang="en-US" sz="1500" dirty="0"/>
          </a:p>
        </p:txBody>
      </p:sp>
      <p:sp>
        <p:nvSpPr>
          <p:cNvPr id="8" name="arrow"/>
          <p:cNvSpPr/>
          <p:nvPr/>
        </p:nvSpPr>
        <p:spPr>
          <a:xfrm>
            <a:off x="3063240" y="2468880"/>
            <a:ext cx="201168" cy="36576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9" name="step card"/>
          <p:cNvSpPr/>
          <p:nvPr/>
        </p:nvSpPr>
        <p:spPr>
          <a:xfrm>
            <a:off x="3337560" y="1188720"/>
            <a:ext cx="2514600" cy="28803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step icon circle"/>
          <p:cNvSpPr/>
          <p:nvPr/>
        </p:nvSpPr>
        <p:spPr>
          <a:xfrm>
            <a:off x="361188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ep icon" descr="ste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15773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1417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調べたこと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224028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山形県では、進学や就職をきっかけに若い世代が県外へ移る傾向が続いている。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5943600" y="2468880"/>
            <a:ext cx="201168" cy="36576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5" name="step card"/>
          <p:cNvSpPr/>
          <p:nvPr/>
        </p:nvSpPr>
        <p:spPr>
          <a:xfrm>
            <a:off x="6217920" y="1188720"/>
            <a:ext cx="2514600" cy="288036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/>
        </p:spPr>
      </p:sp>
      <p:sp>
        <p:nvSpPr>
          <p:cNvPr id="16" name="step icon circle"/>
          <p:cNvSpPr/>
          <p:nvPr/>
        </p:nvSpPr>
        <p:spPr>
          <a:xfrm>
            <a:off x="64922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ep icon" descr="ste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5773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69480" y="1417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疑問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2240280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みんな本当に「出たい」の？ それとも「残りたいけど残れない」の？</a:t>
            </a:r>
            <a:endParaRPr lang="en-US" sz="1500" dirty="0"/>
          </a:p>
        </p:txBody>
      </p:sp>
      <p:sp>
        <p:nvSpPr>
          <p:cNvPr id="20" name="source"/>
          <p:cNvSpPr txBox="1"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出典：山形県の人口・人口移動に関する統計資料をもとに作成（※実際に使った資料名・発行年を書くこと）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私たちの問いと仮説</a:t>
            </a:r>
            <a:endParaRPr lang="en-US" sz="2800" dirty="0"/>
          </a:p>
        </p:txBody>
      </p:sp>
      <p:sp>
        <p:nvSpPr>
          <p:cNvPr id="3" name="question box"/>
          <p:cNvSpPr/>
          <p:nvPr/>
        </p:nvSpPr>
        <p:spPr>
          <a:xfrm>
            <a:off x="457200" y="1143000"/>
            <a:ext cx="82296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4" name="question pill"/>
          <p:cNvSpPr/>
          <p:nvPr/>
        </p:nvSpPr>
        <p:spPr>
          <a:xfrm>
            <a:off x="731520" y="1581912"/>
            <a:ext cx="822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81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問い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23444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山形の高校生は、どんな条件がそろえば「地元で暮らし続けたい」と思うのか？</a:t>
            </a:r>
            <a:endParaRPr lang="en-US" sz="2000" dirty="0"/>
          </a:p>
        </p:txBody>
      </p:sp>
      <p:sp>
        <p:nvSpPr>
          <p:cNvPr id="7" name="hypothesis card"/>
          <p:cNvSpPr/>
          <p:nvPr/>
        </p:nvSpPr>
        <p:spPr>
          <a:xfrm>
            <a:off x="457200" y="2697480"/>
            <a:ext cx="51206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8" name="hypothesis icon circle"/>
          <p:cNvSpPr/>
          <p:nvPr/>
        </p:nvSpPr>
        <p:spPr>
          <a:xfrm>
            <a:off x="731520" y="2926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hypothesis icon" descr="hypothesi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632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仮説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5661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地元がきらいなのではなく、地元の仕事や暮らしについての具体的なイメージが少ないことが、県外志向につながっているのではないか。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アンケートで確かめたいこと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32004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地元に住みたい気持ちの強さ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知っている地元の仕事の数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地元に残るために必要な条件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なぜ他校の皆さんにお聞きしたいのか</a:t>
            </a:r>
            <a:endParaRPr lang="en-US" sz="2800" dirty="0"/>
          </a:p>
        </p:txBody>
      </p:sp>
      <p:sp>
        <p:nvSpPr>
          <p:cNvPr id="3" name="reason card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D5E2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4" name="reason icon circle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eason icon" descr="reas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6344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0" y="1417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5E2E5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自分の学校だけでは偏るから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同じ学校の回答だけでは進路の傾向が似てしまい、山形の高校生全体の姿が見えません。</a:t>
            </a:r>
            <a:endParaRPr lang="en-US" sz="1400" dirty="0"/>
          </a:p>
        </p:txBody>
      </p:sp>
      <p:sp>
        <p:nvSpPr>
          <p:cNvPr id="9" name="reason card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D5E2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10" name="reason icon circle"/>
          <p:cNvSpPr/>
          <p:nvPr/>
        </p:nvSpPr>
        <p:spPr>
          <a:xfrm>
            <a:off x="356616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reason icon" descr="reas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16344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417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5E2E5"/>
                </a:solidFill>
              </a:rPr>
              <a:t>2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2860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地域や学科による違いを比べたいから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063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住んでいる地域や学んでいる分野によって、地元への思いがどう違うのかを知りたいです。</a:t>
            </a:r>
            <a:endParaRPr lang="en-US" sz="1400" dirty="0"/>
          </a:p>
        </p:txBody>
      </p:sp>
      <p:sp>
        <p:nvSpPr>
          <p:cNvPr id="15" name="reason card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D5E2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16" name="reason icon circle"/>
          <p:cNvSpPr/>
          <p:nvPr/>
        </p:nvSpPr>
        <p:spPr>
          <a:xfrm>
            <a:off x="640080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eason icon" descr="reas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16344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955280" y="1417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D5E2E5"/>
                </a:solidFill>
              </a:rPr>
              <a:t>3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22860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高校生の声を地域に届けたいから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3063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結果は成果発表会で報告し、市役所の方への提案にも生かす予定です。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アンケートの内容</a:t>
            </a:r>
            <a:endParaRPr lang="en-US" sz="2800" dirty="0"/>
          </a:p>
        </p:txBody>
      </p:sp>
      <p:sp>
        <p:nvSpPr>
          <p:cNvPr id="3" name="stat tile"/>
          <p:cNvSpPr/>
          <p:nvPr/>
        </p:nvSpPr>
        <p:spPr>
          <a:xfrm>
            <a:off x="457200" y="1188720"/>
            <a:ext cx="274320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051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問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188720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選択式が中心</a:t>
            </a:r>
            <a:endParaRPr lang="en-US" sz="1400" dirty="0"/>
          </a:p>
        </p:txBody>
      </p:sp>
      <p:sp>
        <p:nvSpPr>
          <p:cNvPr id="6" name="stat tile"/>
          <p:cNvSpPr/>
          <p:nvPr/>
        </p:nvSpPr>
        <p:spPr>
          <a:xfrm>
            <a:off x="457200" y="2304288"/>
            <a:ext cx="274320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304288"/>
            <a:ext cx="1051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約</a:t>
            </a:r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分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04288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スマホで回答</a:t>
            </a:r>
            <a:endParaRPr lang="en-US" sz="1400" dirty="0"/>
          </a:p>
        </p:txBody>
      </p:sp>
      <p:sp>
        <p:nvSpPr>
          <p:cNvPr id="9" name="stat tile"/>
          <p:cNvSpPr/>
          <p:nvPr/>
        </p:nvSpPr>
        <p:spPr>
          <a:xfrm>
            <a:off x="457200" y="3419856"/>
            <a:ext cx="2743200" cy="932688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419856"/>
            <a:ext cx="1051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件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419856"/>
            <a:ext cx="1463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個人情報なし</a:t>
            </a:r>
            <a:endParaRPr lang="en-US" sz="1400" dirty="0"/>
          </a:p>
        </p:txBody>
      </p:sp>
      <p:sp>
        <p:nvSpPr>
          <p:cNvPr id="12" name="question sample card"/>
          <p:cNvSpPr/>
          <p:nvPr/>
        </p:nvSpPr>
        <p:spPr>
          <a:xfrm>
            <a:off x="3474720" y="1188720"/>
            <a:ext cx="5212080" cy="3163824"/>
          </a:xfrm>
          <a:prstGeom prst="roundRect">
            <a:avLst>
              <a:gd name="adj" fmla="val 3468"/>
            </a:avLst>
          </a:prstGeom>
          <a:solidFill>
            <a:schemeClr val="bg1"/>
          </a:solidFill>
          <a:ln w="12700">
            <a:solidFill>
              <a:srgbClr val="D5E2E5"/>
            </a:solidFill>
            <a:prstDash val="solid"/>
          </a:ln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4904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質問の例</a:t>
            </a:r>
            <a:endParaRPr lang="en-US" sz="1800" dirty="0"/>
          </a:p>
        </p:txBody>
      </p:sp>
      <p:sp>
        <p:nvSpPr>
          <p:cNvPr id="14" name="q badge"/>
          <p:cNvSpPr/>
          <p:nvPr/>
        </p:nvSpPr>
        <p:spPr>
          <a:xfrm>
            <a:off x="3749040" y="1874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490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18288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10年後、どこに住んでいたいですか？（山形県内／県外／わからない）</a:t>
            </a:r>
            <a:endParaRPr lang="en-US" sz="1400" dirty="0"/>
          </a:p>
        </p:txBody>
      </p:sp>
      <p:sp>
        <p:nvSpPr>
          <p:cNvPr id="17" name="q badge"/>
          <p:cNvSpPr/>
          <p:nvPr/>
        </p:nvSpPr>
        <p:spPr>
          <a:xfrm>
            <a:off x="3749040" y="26791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7490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263347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山形県内で知っている仕事や会社を、思いつくだけ書いてください。</a:t>
            </a:r>
            <a:endParaRPr lang="en-US" sz="1400" dirty="0"/>
          </a:p>
        </p:txBody>
      </p:sp>
      <p:sp>
        <p:nvSpPr>
          <p:cNvPr id="20" name="q badge"/>
          <p:cNvSpPr/>
          <p:nvPr/>
        </p:nvSpPr>
        <p:spPr>
          <a:xfrm>
            <a:off x="3749040" y="348386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7490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Q9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343814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どんな条件があれば、地元で暮らし続けたいと思いますか？（複数選択）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回答データの取り扱いについて</a:t>
            </a:r>
            <a:endParaRPr lang="en-US" sz="2800" dirty="0"/>
          </a:p>
        </p:txBody>
      </p:sp>
      <p:sp>
        <p:nvSpPr>
          <p:cNvPr id="3" name="policy card"/>
          <p:cNvSpPr/>
          <p:nvPr/>
        </p:nvSpPr>
        <p:spPr>
          <a:xfrm>
            <a:off x="457200" y="118872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policy icon circle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policy icon" descr="polic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匿名です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828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名前やメールアドレスなど、個人が特定できる情報は集めません。</a:t>
            </a:r>
            <a:endParaRPr lang="en-US" sz="1400" dirty="0"/>
          </a:p>
        </p:txBody>
      </p:sp>
      <p:sp>
        <p:nvSpPr>
          <p:cNvPr id="8" name="policy card"/>
          <p:cNvSpPr/>
          <p:nvPr/>
        </p:nvSpPr>
        <p:spPr>
          <a:xfrm>
            <a:off x="4709160" y="118872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policy icon circle"/>
          <p:cNvSpPr/>
          <p:nvPr/>
        </p:nvSpPr>
        <p:spPr>
          <a:xfrm>
            <a:off x="4937760" y="14173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policy icon" descr="polic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5659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716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回答は任意です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828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答えたくない質問はとばしてかまいません。途中でやめても大丈夫です。</a:t>
            </a:r>
            <a:endParaRPr lang="en-US" sz="1400" dirty="0"/>
          </a:p>
        </p:txBody>
      </p:sp>
      <p:sp>
        <p:nvSpPr>
          <p:cNvPr id="13" name="policy card"/>
          <p:cNvSpPr/>
          <p:nvPr/>
        </p:nvSpPr>
        <p:spPr>
          <a:xfrm>
            <a:off x="457200" y="288036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policy icon circle"/>
          <p:cNvSpPr/>
          <p:nvPr/>
        </p:nvSpPr>
        <p:spPr>
          <a:xfrm>
            <a:off x="685800" y="310896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policy icon" descr="polic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25755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探究活動以外に使いません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520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データはチームと担当の先生だけで管理し、活動終了後に削除します。</a:t>
            </a:r>
            <a:endParaRPr lang="en-US" sz="1400" dirty="0"/>
          </a:p>
        </p:txBody>
      </p:sp>
      <p:sp>
        <p:nvSpPr>
          <p:cNvPr id="18" name="policy card"/>
          <p:cNvSpPr/>
          <p:nvPr/>
        </p:nvSpPr>
        <p:spPr>
          <a:xfrm>
            <a:off x="4709160" y="2880360"/>
            <a:ext cx="3977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policy icon circle"/>
          <p:cNvSpPr/>
          <p:nvPr/>
        </p:nvSpPr>
        <p:spPr>
          <a:xfrm>
            <a:off x="4937760" y="310896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policy icon" descr="polic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325755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0632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結果をお返しします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204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2月の成果発表会のあと、学校を通じて集計結果を共有します。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D7DE"/>
                </a:solidFill>
              </a:rPr>
              <a:t>アンケート回答ページ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回答はこちらから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8"/>
                </a:solidFill>
              </a:rPr>
              <a:t>スマートフォンのカメラで、右の二次元コードを読み取ってください。</a:t>
            </a:r>
            <a:endParaRPr lang="en-US" sz="1500" dirty="0"/>
          </a:p>
        </p:txBody>
      </p:sp>
      <p:sp>
        <p:nvSpPr>
          <p:cNvPr id="5" name="url box"/>
          <p:cNvSpPr/>
          <p:nvPr/>
        </p:nvSpPr>
        <p:spPr>
          <a:xfrm>
            <a:off x="548640" y="2468880"/>
            <a:ext cx="4846320" cy="457200"/>
          </a:xfrm>
          <a:prstGeom prst="roundRect">
            <a:avLst>
              <a:gd name="adj" fmla="val 2000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6" name="url"/>
          <p:cNvSpPr txBox="1"/>
          <p:nvPr/>
        </p:nvSpPr>
        <p:spPr>
          <a:xfrm>
            <a:off x="68580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https://forms.gle/SampleTankyuForm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回答締切：2026年11月20日（金）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所要時間：約3分（全12問）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8"/>
                </a:solidFill>
              </a:rPr>
              <a:t>お問い合わせ：山形県立山形南高等学校　探究担当（○○先生）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D7DE"/>
                </a:solidFill>
              </a:rPr>
              <a:t>ご協力ありがとうございます！</a:t>
            </a:r>
            <a:endParaRPr lang="en-US" sz="1800" dirty="0"/>
          </a:p>
        </p:txBody>
      </p:sp>
      <p:sp>
        <p:nvSpPr>
          <p:cNvPr id="10" name="qr card"/>
          <p:cNvSpPr/>
          <p:nvPr/>
        </p:nvSpPr>
        <p:spPr>
          <a:xfrm>
            <a:off x="5897880" y="685800"/>
            <a:ext cx="2743200" cy="36118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</p:spPr>
      </p:sp>
      <p:pic>
        <p:nvPicPr>
          <p:cNvPr id="11" name="2D code" descr="アンケートフォームへの二次元コード（サンプル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914400"/>
            <a:ext cx="2286000" cy="22860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03504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読み取ってアンケートへ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3611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※サンプルのため、実際のフォームにはつながりません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【解説】依頼スライドの基本構成</a:t>
            </a:r>
            <a:endParaRPr lang="en-US" sz="2800" dirty="0"/>
          </a:p>
        </p:txBody>
      </p:sp>
      <p:sp>
        <p:nvSpPr>
          <p:cNvPr id="3" name="structure card"/>
          <p:cNvSpPr/>
          <p:nvPr/>
        </p:nvSpPr>
        <p:spPr>
          <a:xfrm>
            <a:off x="457200" y="114300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4" name="number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01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表紙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12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テーマ・所要時間・締切</a:t>
            </a:r>
            <a:endParaRPr lang="en-US" sz="1100" dirty="0"/>
          </a:p>
        </p:txBody>
      </p:sp>
      <p:sp>
        <p:nvSpPr>
          <p:cNvPr id="8" name="structure card"/>
          <p:cNvSpPr/>
          <p:nvPr/>
        </p:nvSpPr>
        <p:spPr>
          <a:xfrm>
            <a:off x="2560320" y="114300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9" name="number"/>
          <p:cNvSpPr/>
          <p:nvPr/>
        </p:nvSpPr>
        <p:spPr>
          <a:xfrm>
            <a:off x="274320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801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自己紹介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112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誰が、何をお願いするか</a:t>
            </a:r>
            <a:endParaRPr lang="en-US" sz="1100" dirty="0"/>
          </a:p>
        </p:txBody>
      </p:sp>
      <p:sp>
        <p:nvSpPr>
          <p:cNvPr id="13" name="structure card"/>
          <p:cNvSpPr/>
          <p:nvPr/>
        </p:nvSpPr>
        <p:spPr>
          <a:xfrm>
            <a:off x="4663440" y="114300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14" name="number"/>
          <p:cNvSpPr/>
          <p:nvPr/>
        </p:nvSpPr>
        <p:spPr>
          <a:xfrm>
            <a:off x="484632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801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きっかけ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12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なぜ調べるのか・出典</a:t>
            </a:r>
            <a:endParaRPr lang="en-US" sz="1100" dirty="0"/>
          </a:p>
        </p:txBody>
      </p:sp>
      <p:sp>
        <p:nvSpPr>
          <p:cNvPr id="18" name="structure card"/>
          <p:cNvSpPr/>
          <p:nvPr/>
        </p:nvSpPr>
        <p:spPr>
          <a:xfrm>
            <a:off x="6766560" y="114300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19" name="number"/>
          <p:cNvSpPr/>
          <p:nvPr/>
        </p:nvSpPr>
        <p:spPr>
          <a:xfrm>
            <a:off x="694944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801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問いと仮説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112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何を確かめたいのか</a:t>
            </a:r>
            <a:endParaRPr lang="en-US" sz="1100" dirty="0"/>
          </a:p>
        </p:txBody>
      </p:sp>
      <p:sp>
        <p:nvSpPr>
          <p:cNvPr id="23" name="structure card"/>
          <p:cNvSpPr/>
          <p:nvPr/>
        </p:nvSpPr>
        <p:spPr>
          <a:xfrm>
            <a:off x="457200" y="269748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24" name="number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55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相手に聞く理由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6667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なぜあなたに聞くか</a:t>
            </a:r>
            <a:endParaRPr lang="en-US" sz="1100" dirty="0"/>
          </a:p>
        </p:txBody>
      </p:sp>
      <p:sp>
        <p:nvSpPr>
          <p:cNvPr id="28" name="structure card"/>
          <p:cNvSpPr/>
          <p:nvPr/>
        </p:nvSpPr>
        <p:spPr>
          <a:xfrm>
            <a:off x="2560320" y="269748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29" name="number"/>
          <p:cNvSpPr/>
          <p:nvPr/>
        </p:nvSpPr>
        <p:spPr>
          <a:xfrm>
            <a:off x="2743200" y="28803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7432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3355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アンケートの内容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0" y="36667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問題数・時間・質問例</a:t>
            </a:r>
            <a:endParaRPr lang="en-US" sz="1100" dirty="0"/>
          </a:p>
        </p:txBody>
      </p:sp>
      <p:sp>
        <p:nvSpPr>
          <p:cNvPr id="33" name="structure card"/>
          <p:cNvSpPr/>
          <p:nvPr/>
        </p:nvSpPr>
        <p:spPr>
          <a:xfrm>
            <a:off x="4663440" y="269748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34" name="number"/>
          <p:cNvSpPr/>
          <p:nvPr/>
        </p:nvSpPr>
        <p:spPr>
          <a:xfrm>
            <a:off x="4846320" y="28803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46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3355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データの扱い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6667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匿名・任意・結果の還元</a:t>
            </a:r>
            <a:endParaRPr lang="en-US" sz="1100" dirty="0"/>
          </a:p>
        </p:txBody>
      </p:sp>
      <p:sp>
        <p:nvSpPr>
          <p:cNvPr id="38" name="structure card"/>
          <p:cNvSpPr/>
          <p:nvPr/>
        </p:nvSpPr>
        <p:spPr>
          <a:xfrm>
            <a:off x="6766560" y="269748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39" name="number"/>
          <p:cNvSpPr/>
          <p:nvPr/>
        </p:nvSpPr>
        <p:spPr>
          <a:xfrm>
            <a:off x="6949440" y="28803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494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949440" y="3355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回答リンク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36667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E8"/>
                </a:solidFill>
              </a:rPr>
              <a:t>二次元コードとURL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相手は私たちを知らない人。目的が伝わると、回答率も回答の質も上がります。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【解説】送る前のチェックリスト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143000"/>
            <a:ext cx="397764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4" name="checklist icon 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hecklist icon" descr="checklis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スライド</a:t>
            </a:r>
            <a:endParaRPr lang="en-US" sz="1700" dirty="0"/>
          </a:p>
        </p:txBody>
      </p:sp>
      <p:pic>
        <p:nvPicPr>
          <p:cNvPr id="7" name="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305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011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1〜2枚目で「誰が」「何のために」が分かる</a:t>
            </a:r>
            <a:endParaRPr lang="en-US" sz="1400" dirty="0"/>
          </a:p>
        </p:txBody>
      </p:sp>
      <p:pic>
        <p:nvPicPr>
          <p:cNvPr id="9" name="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5234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26334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1枚1メッセージ。文字は大きく、少なめに</a:t>
            </a:r>
            <a:endParaRPr lang="en-US" sz="1400" dirty="0"/>
          </a:p>
        </p:txBody>
      </p:sp>
      <p:pic>
        <p:nvPicPr>
          <p:cNvPr id="11" name="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74136"/>
            <a:ext cx="256032" cy="2560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43000" y="32552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調べた資料の出典を書いた</a:t>
            </a:r>
            <a:endParaRPr lang="en-US" sz="1400" dirty="0"/>
          </a:p>
        </p:txBody>
      </p:sp>
      <p:pic>
        <p:nvPicPr>
          <p:cNvPr id="13" name="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95928"/>
            <a:ext cx="256032" cy="25603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387705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二次元コードは大きく、URLも書いた</a:t>
            </a:r>
            <a:endParaRPr lang="en-US" sz="1400" dirty="0"/>
          </a:p>
        </p:txBody>
      </p:sp>
      <p:sp>
        <p:nvSpPr>
          <p:cNvPr id="15" name="checklist card"/>
          <p:cNvSpPr/>
          <p:nvPr/>
        </p:nvSpPr>
        <p:spPr>
          <a:xfrm>
            <a:off x="4709160" y="1143000"/>
            <a:ext cx="3977640" cy="342900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E2A32">
                <a:alpha val="12000"/>
              </a:srgbClr>
            </a:outerShdw>
          </a:effectLst>
        </p:spPr>
      </p:sp>
      <p:sp>
        <p:nvSpPr>
          <p:cNvPr id="16" name="checklist icon circle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hecklist icon" descr="checklis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490" y="1451610"/>
            <a:ext cx="251460" cy="2514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57784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フォームと依頼の手順</a:t>
            </a:r>
            <a:endParaRPr lang="en-US" sz="1700" dirty="0"/>
          </a:p>
        </p:txBody>
      </p:sp>
      <p:pic>
        <p:nvPicPr>
          <p:cNvPr id="19" name="chec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130552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394960" y="2011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質問は10問前後。3〜5分で終わる</a:t>
            </a:r>
            <a:endParaRPr lang="en-US" sz="1400" dirty="0"/>
          </a:p>
        </p:txBody>
      </p:sp>
      <p:pic>
        <p:nvPicPr>
          <p:cNvPr id="21" name="check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752344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5394960" y="26334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名前など、個人情報を聞いていない</a:t>
            </a:r>
            <a:endParaRPr lang="en-US" sz="1400" dirty="0"/>
          </a:p>
        </p:txBody>
      </p:sp>
      <p:pic>
        <p:nvPicPr>
          <p:cNvPr id="23" name="check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374136"/>
            <a:ext cx="256032" cy="256032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5394960" y="32552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自分たちでテスト回答し、集計まで試した</a:t>
            </a:r>
            <a:endParaRPr lang="en-US" sz="1400" dirty="0"/>
          </a:p>
        </p:txBody>
      </p:sp>
      <p:pic>
        <p:nvPicPr>
          <p:cNvPr id="25" name="check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995928"/>
            <a:ext cx="256032" cy="256032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394960" y="387705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先生の確認を受け、相手校の先生を通して依頼する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rusato Lab">
  <a:themeElements>
    <a:clrScheme name="Furusato Lab">
      <a:dk1>
        <a:srgbClr val="1E2A32"/>
      </a:dk1>
      <a:lt1>
        <a:srgbClr val="FFFFFF"/>
      </a:lt1>
      <a:dk2>
        <a:srgbClr val="1F4E5F"/>
      </a:dk2>
      <a:lt2>
        <a:srgbClr val="EEF4F5"/>
      </a:lt2>
      <a:accent1>
        <a:srgbClr val="B3123A"/>
      </a:accent1>
      <a:accent2>
        <a:srgbClr val="2E7D8C"/>
      </a:accent2>
      <a:accent3>
        <a:srgbClr val="E8A33D"/>
      </a:accent3>
      <a:accent4>
        <a:srgbClr val="5B8C5A"/>
      </a:accent4>
      <a:accent5>
        <a:srgbClr val="6B7B86"/>
      </a:accent5>
      <a:accent6>
        <a:srgbClr val="F6D7DE"/>
      </a:accent6>
      <a:hlink>
        <a:srgbClr val="2E7D8C"/>
      </a:hlink>
      <a:folHlink>
        <a:srgbClr val="6B7B86"/>
      </a:folHlink>
    </a:clrScheme>
    <a:fontScheme name="Furusato Lab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探究アンケート依頼スライド（サンプル）</dc:title>
  <dc:subject>PptxGenJS Presentation</dc:subject>
  <dc:creator>探究チーム「ふるさとラボ」</dc:creator>
  <cp:lastModifiedBy>探究チーム「ふるさとラボ」</cp:lastModifiedBy>
  <cp:revision>1</cp:revision>
  <dcterms:created xsi:type="dcterms:W3CDTF">2026-10-05T02:17:48Z</dcterms:created>
  <dcterms:modified xsi:type="dcterms:W3CDTF">2026-10-05T02:17:48Z</dcterms:modified>
</cp:coreProperties>
</file>